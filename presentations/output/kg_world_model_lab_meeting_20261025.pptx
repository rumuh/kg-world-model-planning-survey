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88a491332421c" /><Relationship Type="http://schemas.openxmlformats.org/officeDocument/2006/relationships/extended-properties" Target="/docProps/app.xml" Id="Rc658fcce6edc4dfd" /><Relationship Type="http://schemas.openxmlformats.org/officeDocument/2006/relationships/officeDocument" Target="/ppt/presentation.xml" Id="Rf00fc1e2a150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aec0369d04f5a"/>
  </p:sldMasterIdLst>
  <p:notesMasterIdLst>
    <p:notesMasterId xmlns:r="http://schemas.openxmlformats.org/officeDocument/2006/relationships" r:id="R9c221f0fb4664f35"/>
  </p:notesMasterIdLst>
  <p:sldIdLst>
    <p:sldId xmlns:r="http://schemas.openxmlformats.org/officeDocument/2006/relationships" id="256" r:id="R63c50f80ef6a426e"/>
    <p:sldId xmlns:r="http://schemas.openxmlformats.org/officeDocument/2006/relationships" id="257" r:id="R9ab30bcd04964622"/>
    <p:sldId xmlns:r="http://schemas.openxmlformats.org/officeDocument/2006/relationships" id="258" r:id="R01e43beb365540d3"/>
    <p:sldId xmlns:r="http://schemas.openxmlformats.org/officeDocument/2006/relationships" id="259" r:id="R171e39887715480c"/>
    <p:sldId xmlns:r="http://schemas.openxmlformats.org/officeDocument/2006/relationships" id="260" r:id="R27afdb82b9544f00"/>
    <p:sldId xmlns:r="http://schemas.openxmlformats.org/officeDocument/2006/relationships" id="261" r:id="Rae8c5711395d4c2b"/>
    <p:sldId xmlns:r="http://schemas.openxmlformats.org/officeDocument/2006/relationships" id="262" r:id="Ra7a6b87a6633400a"/>
    <p:sldId xmlns:r="http://schemas.openxmlformats.org/officeDocument/2006/relationships" id="263" r:id="R1413ba0e375d4f80"/>
    <p:sldId xmlns:r="http://schemas.openxmlformats.org/officeDocument/2006/relationships" id="264" r:id="Rebda0152bffd49ca"/>
    <p:sldId xmlns:r="http://schemas.openxmlformats.org/officeDocument/2006/relationships" id="265" r:id="Re077034109324247"/>
    <p:sldId xmlns:r="http://schemas.openxmlformats.org/officeDocument/2006/relationships" id="266" r:id="R2dec71a77aa54346"/>
    <p:sldId xmlns:r="http://schemas.openxmlformats.org/officeDocument/2006/relationships" id="267" r:id="R987fa82f05a04117"/>
    <p:sldId xmlns:r="http://schemas.openxmlformats.org/officeDocument/2006/relationships" id="268" r:id="R168c2e74dc1a49fd"/>
    <p:sldId xmlns:r="http://schemas.openxmlformats.org/officeDocument/2006/relationships" id="269" r:id="Recafccde83614be4"/>
    <p:sldId xmlns:r="http://schemas.openxmlformats.org/officeDocument/2006/relationships" id="270" r:id="Rddd1abe11ac24346"/>
    <p:sldId xmlns:r="http://schemas.openxmlformats.org/officeDocument/2006/relationships" id="271" r:id="Rf21f82d523a64ab4"/>
    <p:sldId xmlns:r="http://schemas.openxmlformats.org/officeDocument/2006/relationships" id="272" r:id="R67e0b19fd4cb44b7"/>
    <p:sldId xmlns:r="http://schemas.openxmlformats.org/officeDocument/2006/relationships" id="273" r:id="R47255bbabf6e438e"/>
    <p:sldId xmlns:r="http://schemas.openxmlformats.org/officeDocument/2006/relationships" id="274" r:id="R6d02a67ab65a4f79"/>
    <p:sldId xmlns:r="http://schemas.openxmlformats.org/officeDocument/2006/relationships" id="275" r:id="R220ded9ab03e496c"/>
    <p:sldId xmlns:r="http://schemas.openxmlformats.org/officeDocument/2006/relationships" id="276" r:id="R91ef3310c0884311"/>
    <p:sldId xmlns:r="http://schemas.openxmlformats.org/officeDocument/2006/relationships" id="277" r:id="R2430ea6d9851418d"/>
    <p:sldId xmlns:r="http://schemas.openxmlformats.org/officeDocument/2006/relationships" id="278" r:id="Rb34fa9c867584d65"/>
    <p:sldId xmlns:r="http://schemas.openxmlformats.org/officeDocument/2006/relationships" id="279" r:id="R954220782667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db3c07a094635" /><Relationship Type="http://schemas.openxmlformats.org/officeDocument/2006/relationships/slideMaster" Target="/ppt/slideMasters/slideMaster1.xml" Id="R7a0aec0369d04f5a" /><Relationship Type="http://schemas.openxmlformats.org/officeDocument/2006/relationships/notesMaster" Target="/ppt/notesMasters/notesMaster1.xml" Id="R9c221f0fb4664f35" /><Relationship Type="http://schemas.openxmlformats.org/officeDocument/2006/relationships/presProps" Target="/ppt/presProps.xml" Id="Rf94ab7403f9d496d" /><Relationship Type="http://schemas.openxmlformats.org/officeDocument/2006/relationships/tableStyles" Target="/ppt/tableStyles.xml" Id="Ra7d48391a3af417a" /><Relationship Type="http://schemas.openxmlformats.org/officeDocument/2006/relationships/slide" Target="/ppt/slides/slide1.xml" Id="R63c50f80ef6a426e" /><Relationship Type="http://schemas.openxmlformats.org/officeDocument/2006/relationships/slide" Target="/ppt/slides/slide2.xml" Id="R9ab30bcd04964622" /><Relationship Type="http://schemas.openxmlformats.org/officeDocument/2006/relationships/slide" Target="/ppt/slides/slide3.xml" Id="R01e43beb365540d3" /><Relationship Type="http://schemas.openxmlformats.org/officeDocument/2006/relationships/slide" Target="/ppt/slides/slide4.xml" Id="R171e39887715480c" /><Relationship Type="http://schemas.openxmlformats.org/officeDocument/2006/relationships/slide" Target="/ppt/slides/slide5.xml" Id="R27afdb82b9544f00" /><Relationship Type="http://schemas.openxmlformats.org/officeDocument/2006/relationships/slide" Target="/ppt/slides/slide6.xml" Id="Rae8c5711395d4c2b" /><Relationship Type="http://schemas.openxmlformats.org/officeDocument/2006/relationships/slide" Target="/ppt/slides/slide7.xml" Id="Ra7a6b87a6633400a" /><Relationship Type="http://schemas.openxmlformats.org/officeDocument/2006/relationships/slide" Target="/ppt/slides/slide8.xml" Id="R1413ba0e375d4f80" /><Relationship Type="http://schemas.openxmlformats.org/officeDocument/2006/relationships/slide" Target="/ppt/slides/slide9.xml" Id="Rebda0152bffd49ca" /><Relationship Type="http://schemas.openxmlformats.org/officeDocument/2006/relationships/slide" Target="/ppt/slides/slide10.xml" Id="Re077034109324247" /><Relationship Type="http://schemas.openxmlformats.org/officeDocument/2006/relationships/slide" Target="/ppt/slides/slide11.xml" Id="R2dec71a77aa54346" /><Relationship Type="http://schemas.openxmlformats.org/officeDocument/2006/relationships/slide" Target="/ppt/slides/slide12.xml" Id="R987fa82f05a04117" /><Relationship Type="http://schemas.openxmlformats.org/officeDocument/2006/relationships/slide" Target="/ppt/slides/slide13.xml" Id="R168c2e74dc1a49fd" /><Relationship Type="http://schemas.openxmlformats.org/officeDocument/2006/relationships/slide" Target="/ppt/slides/slide14.xml" Id="Recafccde83614be4" /><Relationship Type="http://schemas.openxmlformats.org/officeDocument/2006/relationships/slide" Target="/ppt/slides/slide15.xml" Id="Rddd1abe11ac24346" /><Relationship Type="http://schemas.openxmlformats.org/officeDocument/2006/relationships/slide" Target="/ppt/slides/slide16.xml" Id="Rf21f82d523a64ab4" /><Relationship Type="http://schemas.openxmlformats.org/officeDocument/2006/relationships/slide" Target="/ppt/slides/slide17.xml" Id="R67e0b19fd4cb44b7" /><Relationship Type="http://schemas.openxmlformats.org/officeDocument/2006/relationships/slide" Target="/ppt/slides/slide18.xml" Id="R47255bbabf6e438e" /><Relationship Type="http://schemas.openxmlformats.org/officeDocument/2006/relationships/slide" Target="/ppt/slides/slide19.xml" Id="R6d02a67ab65a4f79" /><Relationship Type="http://schemas.openxmlformats.org/officeDocument/2006/relationships/slide" Target="/ppt/slides/slide20.xml" Id="R220ded9ab03e496c" /><Relationship Type="http://schemas.openxmlformats.org/officeDocument/2006/relationships/slide" Target="/ppt/slides/slide21.xml" Id="R91ef3310c0884311" /><Relationship Type="http://schemas.openxmlformats.org/officeDocument/2006/relationships/slide" Target="/ppt/slides/slide22.xml" Id="R2430ea6d9851418d" /><Relationship Type="http://schemas.openxmlformats.org/officeDocument/2006/relationships/slide" Target="/ppt/slides/slide23.xml" Id="Rb34fa9c867584d65" /><Relationship Type="http://schemas.openxmlformats.org/officeDocument/2006/relationships/slide" Target="/ppt/slides/slide24.xml" Id="R954220782667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1dc84a1bc43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2312768c874e90" /><Relationship Type="http://schemas.openxmlformats.org/officeDocument/2006/relationships/notesMaster" Target="/ppt/notesMasters/notesMaster1.xml" Id="Rb608a85ed0ef41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bb1f97f0344c72" /><Relationship Type="http://schemas.openxmlformats.org/officeDocument/2006/relationships/notesMaster" Target="/ppt/notesMasters/notesMaster1.xml" Id="R3c8dc6baeb2140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61fdfbd60541db" /><Relationship Type="http://schemas.openxmlformats.org/officeDocument/2006/relationships/notesMaster" Target="/ppt/notesMasters/notesMaster1.xml" Id="R0139a8ccb9e044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6d25fdf6f4b0f" /><Relationship Type="http://schemas.openxmlformats.org/officeDocument/2006/relationships/notesMaster" Target="/ppt/notesMasters/notesMaster1.xml" Id="Ra4916ca445ff49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c4a745e17d4418" /><Relationship Type="http://schemas.openxmlformats.org/officeDocument/2006/relationships/notesMaster" Target="/ppt/notesMasters/notesMaster1.xml" Id="Rd3f088e47318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9d62039ac54788" /><Relationship Type="http://schemas.openxmlformats.org/officeDocument/2006/relationships/notesMaster" Target="/ppt/notesMasters/notesMaster1.xml" Id="Rfc84897f988842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e8076ff19649ea" /><Relationship Type="http://schemas.openxmlformats.org/officeDocument/2006/relationships/notesMaster" Target="/ppt/notesMasters/notesMaster1.xml" Id="Rb08d78a2441c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a35a3307b4288" /><Relationship Type="http://schemas.openxmlformats.org/officeDocument/2006/relationships/notesMaster" Target="/ppt/notesMasters/notesMaster1.xml" Id="Rf542aa88f15f47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3daecc28ad4360" /><Relationship Type="http://schemas.openxmlformats.org/officeDocument/2006/relationships/notesMaster" Target="/ppt/notesMasters/notesMaster1.xml" Id="Rda75e0985954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ded94564144ebc" /><Relationship Type="http://schemas.openxmlformats.org/officeDocument/2006/relationships/notesMaster" Target="/ppt/notesMasters/notesMaster1.xml" Id="R100d8a279c7e49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1d7457b2324c10" /><Relationship Type="http://schemas.openxmlformats.org/officeDocument/2006/relationships/notesMaster" Target="/ppt/notesMasters/notesMaster1.xml" Id="R6f476365d6ac41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9c41b9eea44b9" /><Relationship Type="http://schemas.openxmlformats.org/officeDocument/2006/relationships/notesMaster" Target="/ppt/notesMasters/notesMaster1.xml" Id="R26cdeadc9cdc43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102c5c18a841cc" /><Relationship Type="http://schemas.openxmlformats.org/officeDocument/2006/relationships/notesMaster" Target="/ppt/notesMasters/notesMaster1.xml" Id="R9ab60b314fe445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225afbc0b74cf1" /><Relationship Type="http://schemas.openxmlformats.org/officeDocument/2006/relationships/notesMaster" Target="/ppt/notesMasters/notesMaster1.xml" Id="R634f29a573b448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d96ae806944964" /><Relationship Type="http://schemas.openxmlformats.org/officeDocument/2006/relationships/notesMaster" Target="/ppt/notesMasters/notesMaster1.xml" Id="R98ab9d651b3345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f7217d05db40f7" /><Relationship Type="http://schemas.openxmlformats.org/officeDocument/2006/relationships/notesMaster" Target="/ppt/notesMasters/notesMaster1.xml" Id="Rc8864bad1cc748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5821da15fa49ab" /><Relationship Type="http://schemas.openxmlformats.org/officeDocument/2006/relationships/notesMaster" Target="/ppt/notesMasters/notesMaster1.xml" Id="R48701ec50caa4e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6f7bf33ea44fdf" /><Relationship Type="http://schemas.openxmlformats.org/officeDocument/2006/relationships/notesMaster" Target="/ppt/notesMasters/notesMaster1.xml" Id="R55ac30f4048949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b3eb5852e74492" /><Relationship Type="http://schemas.openxmlformats.org/officeDocument/2006/relationships/notesMaster" Target="/ppt/notesMasters/notesMaster1.xml" Id="Rd2d4c99391b049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ada3d25eb1462b" /><Relationship Type="http://schemas.openxmlformats.org/officeDocument/2006/relationships/notesMaster" Target="/ppt/notesMasters/notesMaster1.xml" Id="R61b39070de7346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1e1a1f7fd34b17" /><Relationship Type="http://schemas.openxmlformats.org/officeDocument/2006/relationships/notesMaster" Target="/ppt/notesMasters/notesMaster1.xml" Id="R5709a8cb72364d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fbc691f98842ea" /><Relationship Type="http://schemas.openxmlformats.org/officeDocument/2006/relationships/notesMaster" Target="/ppt/notesMasters/notesMaster1.xml" Id="R9ceab42bbe4d4f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8aaa8dbc79438a" /><Relationship Type="http://schemas.openxmlformats.org/officeDocument/2006/relationships/notesMaster" Target="/ppt/notesMasters/notesMaster1.xml" Id="Rf039c9f2d74645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11204568864cdc" /><Relationship Type="http://schemas.openxmlformats.org/officeDocument/2006/relationships/notesMaster" Target="/ppt/notesMasters/notesMaster1.xml" Id="Rbb9afec841a2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基于已经整理的论文和工程资料。重点不是把所有模型列一遍，而是说明几种知识增强方式究竟解决什么问题，再判断它们可能对应项目中的哪一部分。目前项目的具体输入输出和数据条件还不清楚，因此所有项目建议都按条件讨论。正文约20分钟，最后4页可作为问答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说明：本页为调研综合判断或待确认的项目访谈建议。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明确任务层次。比如查到某处资源不足属于当前态势理解，预测资源会在未来短缺属于预测，决定如何调整资源属于规划。它们可以串联，但不能用问答准确率证明计划有效，也不能用未来对象排序直接证明行动收益。后续咨询负责人，最先要问的是系统最终交付哪一种输出。此页是本调研对任务的综合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https://arxiv.org/abs/2411.14499v4</a:t>
            </a:r>
          </a:p>
          <a:p xmlns:a="http://schemas.openxmlformats.org/drawingml/2006/main">
            <a:r>
              <a:t>https://arxiv.org/abs/2305.14992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互斥分类，一篇论文可以覆盖几个位置。表格按其最值得借鉴的部分归纳。我们需要识别知识究竟在哪里进入模型：是保存状态、改善预测、过滤行动，还是为解释提供依据。这样才能避免只因为两个系统都叫世界模型，就把它们放在同一排行榜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https://arxiv.org/abs/2407.04363v3</a:t>
            </a:r>
          </a:p>
          <a:p xmlns:a="http://schemas.openxmlformats.org/drawingml/2006/main">
            <a:r>
              <a:t>https://arxiv.org/abs/2104.10353</a:t>
            </a:r>
          </a:p>
          <a:p xmlns:a="http://schemas.openxmlformats.org/drawingml/2006/main">
            <a:r>
              <a:t>https://arxiv.org/abs/2112.08025</a:t>
            </a:r>
          </a:p>
          <a:p xmlns:a="http://schemas.openxmlformats.org/drawingml/2006/main">
            <a:r>
              <a:t>https://arxiv.org/abs/2602.04129v2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出六篇论文，RE-GCN和TLogic合并展示为一组对照。Worldformer帮助我们定义世界模型的预测任务，AriGraph和DAVIS说明如何利用经历，KGLAMP说明如何把知识转化为可执行性约束。对领域系统只做补充介绍，不把领域贴近程度等同于算法有效性或工程可复现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https://arxiv.org/abs/2106.09608v2</a:t>
            </a:r>
          </a:p>
          <a:p xmlns:a="http://schemas.openxmlformats.org/drawingml/2006/main">
            <a:r>
              <a:t>https://arxiv.org/abs/2104.10353</a:t>
            </a:r>
          </a:p>
          <a:p xmlns:a="http://schemas.openxmlformats.org/drawingml/2006/main">
            <a:r>
              <a:t>https://arxiv.org/abs/2112.08025</a:t>
            </a:r>
          </a:p>
          <a:p xmlns:a="http://schemas.openxmlformats.org/drawingml/2006/main">
            <a:r>
              <a:t>https://www.ijcai.org/proceedings/2025/2</a:t>
            </a:r>
          </a:p>
          <a:p xmlns:a="http://schemas.openxmlformats.org/drawingml/2006/main">
            <a:r>
              <a:t>https://arxiv.org/abs/2410.09252v2</a:t>
            </a:r>
          </a:p>
          <a:p xmlns:a="http://schemas.openxmlformats.org/drawingml/2006/main">
            <a:r>
              <a:t>https://arxiv.org/abs/2602.04129v2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ldformer把世界模型定义成两个明确任务：预测动作之后的图状态，以及新的有效动作。相比重新生成整个图，它利用图差异简化预测。右侧是为了讲解而写的示意例子，并非作者实验记录。最值得向负责人确认的是：项目有没有当前状态、执行动作、后续状态这样的成对数据，或者能产生这些数据的环境。还要注意论文使用的图状态和有效动作信息，在真实业务里是否能够获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证据范围：论文在JerichoWorld上验证下一步图事实与有效动作集合预测，训练和测试来自不同文本游戏。原任务输入还包含当前有效动作信息，项目中能否获得这种输入需单独确认。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https://arxiv.org/html/2106.09608v2#S3</a:t>
            </a:r>
          </a:p>
          <a:p xmlns:a="http://schemas.openxmlformats.org/drawingml/2006/main">
            <a:r>
              <a:t>https://arxiv.org/html/2106.09608v2#S4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-GCN的核心是把图结构和时间变化结合：一个时间片内有结构依赖，时间片之间有演化规律。它的典型输出是查询候选的排序。这里特别强调，给定主体、关系和时间去找对象，和自主生成未来所有重要事件是不同问题。后续若复现，还需区分获得新真值历史的在线预测、固定起点预测和预测回写；原仓库还有旧依赖兼容问题，本轮没有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证据范围：论文采用ICEWS系列、WIKI、YAGO和GDELT等六个数据集，使用实体与关系预测指标评价。该证据支持历史事件图外推，不是行动干预实验。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https://arxiv.org/html/2104.10353</a:t>
            </a:r>
          </a:p>
          <a:p xmlns:a="http://schemas.openxmlformats.org/drawingml/2006/main">
            <a:r>
              <a:t>https://github.com/Lee-zix/RE-GCN/blob/bc64211e3346f3fbc8988990969f4809fcca2977/src/main.py#L62-L99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Logic不要求先训练一个大语言模型。它从时序路径中提取规则，在新查询中寻找满足规则的历史事实。它很适合作为解释性较强、依赖相对轻的预测基线。不过，规则置信度来自数据统计，并非采取某个行动就会得到某个结果的因果保证。它还有预测覆盖率问题：有些查询没有匹配规则，这些情况也必须计入评价，不能只展示漂亮的解释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证据范围：作者在三个ICEWS基准上评价链接预测，还研究共享关系词表下的规则迁移。我们可以借鉴时间一致解释，但不能由此保证跨领域迁移。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https://arxiv.org/html/2112.08025</a:t>
            </a:r>
          </a:p>
          <a:p xmlns:a="http://schemas.openxmlformats.org/drawingml/2006/main">
            <a:r>
              <a:t>https://github.com/liu-yushan/TLogic/blob/9f6ffa3cc5c112226dc2537983b6bb33d4ef295e/pyproject.toml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类工作值得形成对照，因为它们利用历史图的方式不同。表格不表示规则方法必然更好，也不表示神经方法只能黑盒使用。工程上TLogic更适合作为第一步，RE-GCN适合作为环境和评价协议对齐后的对照。需要核对同名数据是否实际采用相同划分，过滤多答案和并列分数的方式是否一致，否则不同MRR没有直接比较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https://arxiv.org/abs/2104.10353</a:t>
            </a:r>
          </a:p>
          <a:p xmlns:a="http://schemas.openxmlformats.org/drawingml/2006/main">
            <a:r>
              <a:t>https://arxiv.org/abs/2112.08025</a:t>
            </a:r>
          </a:p>
          <a:p xmlns:a="http://schemas.openxmlformats.org/drawingml/2006/main">
            <a:r>
              <a:t>https://arxiv.org/abs/2406.09639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Graph的价值首先是记忆组织。语义层告诉代理当前知道哪些实体关系，情景层帮助找回这些知识来自哪次经历。代理把相关记忆交给规划与行动模块，再用新观测更新知识。如果项目只是一次性的文件问答，它的长任务优势未必是关键；如果项目需要持续跟踪任务执行、反复更新状态，它就更值得关注。图记忆有用，并不自动证明已经训练了独立的行动条件动态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https://arxiv.org/html/2407.04363v3#S2</a:t>
            </a:r>
          </a:p>
          <a:p xmlns:a="http://schemas.openxmlformats.org/drawingml/2006/main">
            <a:r>
              <a:t>https://www.ijcai.org/proceedings/2025/2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倾向于把AriGraph作为第一批机制测试候选，因为它能回答一个具体问题：图记忆是否比摘要或普通RAG更有利于完成长任务。论文把不同记忆方式放在共同的规划与决策框架中比较，这是有价值的设计。不过作者使用五次尝试中表现最好的三次平均，组会中应明确这个口径。未来即使沿用原口径，也应同时记录全部预定运行，防止把选优后的结果当成典型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https://arxiv.org/html/2407.04363v3#S4</a:t>
            </a:r>
          </a:p>
          <a:p xmlns:a="http://schemas.openxmlformats.org/drawingml/2006/main">
            <a:r>
              <a:t>https://arxiv.org/html/2407.04363v3#S5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来自DAVIS原文图3。它先找相关实体和子图，再按时间组织检索结果，让模型通过多轮提问补充规划所需信息。更完整的系统还包括执行中的actor和critic。值得借鉴的是检索和执行反馈如何配合，不是把自然语言推断当成可靠模拟器。作者披露了较高调用成本和商业模型依赖，仓库也提示代码可能不稳定，所以方法价值高，但当前不建议把全量复现作为最低成本起点。原图依据CC BY 4.0收录，未改动内容。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证据范围：作者在ScienceWorld任务中比较规划表现，并用多跳问答补充评价世界模型的检索能力。这两类实验支持的结论不同，问答成绩不能替代状态转移精度。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https://arxiv.org/html/2410.09252v2#S1.F3</a:t>
            </a:r>
          </a:p>
          <a:p xmlns:a="http://schemas.openxmlformats.org/drawingml/2006/main">
            <a:r>
              <a:t>https://arxiv.org/html/2410.09252v2#S1.SS2</a:t>
            </a:r>
          </a:p>
          <a:p xmlns:a="http://schemas.openxmlformats.org/drawingml/2006/main">
            <a:r>
              <a:t>https://github.com/minhphd/DAVIS/blob/19c854cced8588534578eb40023fe7a0869c054f/README.md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DL可以先理解为一种正式描述任务的语言，包含对象、初始状态、目标、动作前置条件与效果。KGLAMP利用图知识帮助模型生成这些描述，再交给规划器求解。若环境反馈表明条件遗漏，系统修正知识并重规划。它特别适合启发需要能力分工或约束检查的项目。但目前没有确认作者完整工程，直接复现的条件不足，暂时应把它定位为方法参考或重实现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证据范围：原文检查任务完成率、目标条件召回、动作可执行率，以及规划和执行时间。它检验约束下的计划质量，而非未来事件排序。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https://arxiv.org/html/2602.04129v2#S3</a:t>
            </a:r>
          </a:p>
          <a:p xmlns:a="http://schemas.openxmlformats.org/drawingml/2006/main">
            <a:r>
              <a:t>https://arxiv.org/html/2602.04129v2#S4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项工作与指挥决策这个应用名称更贴近，可以参考知识来源、本体和证据展示。E-KELL重点是知识支持回答，ARES-KG重点是可追溯图分析。它们目前能支持的结论与端到端闭环任务成效仍有距离。ARES-KG公开仓库主要是数据和文档查询工件，也不能直接当作完整应用部署。我们可以借鉴其领域组织方式，同时用更合适的指标验证项目真正需要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https://arxiv.org/abs/2311.08732</a:t>
            </a:r>
          </a:p>
          <a:p xmlns:a="http://schemas.openxmlformats.org/drawingml/2006/main">
            <a:r>
              <a:t>https://www.mdpi.com/2673-9585/6/3/16</a:t>
            </a:r>
          </a:p>
          <a:p xmlns:a="http://schemas.openxmlformats.org/drawingml/2006/main">
            <a:r>
              <a:t>https://github.com/dimitrisdoumanas19/DSS-ARESKG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是向项目对齐的关键。推荐并不是一开始就把所有方法串起来。如果最终输出是未来事件，就优先研究时序预测；如果只是规范依据查询，就先研究知识检索。如果要比较行动方案，则必须问清动作空间和评价环境。项目尚未明确时，调研最好提供这张对应关系，而不是替团队提前决定架构。Graphiti只是记忆基础设施参考，并不自带预测或规划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https://arxiv.org/abs/2104.10353</a:t>
            </a:r>
          </a:p>
          <a:p xmlns:a="http://schemas.openxmlformats.org/drawingml/2006/main">
            <a:r>
              <a:t>https://arxiv.org/abs/2112.08025</a:t>
            </a:r>
          </a:p>
          <a:p xmlns:a="http://schemas.openxmlformats.org/drawingml/2006/main">
            <a:r>
              <a:t>https://arxiv.org/abs/2407.04363v3</a:t>
            </a:r>
          </a:p>
          <a:p xmlns:a="http://schemas.openxmlformats.org/drawingml/2006/main">
            <a:r>
              <a:t>https://arxiv.org/abs/2106.09608v2</a:t>
            </a:r>
          </a:p>
          <a:p xmlns:a="http://schemas.openxmlformats.org/drawingml/2006/main">
            <a:r>
              <a:t>https://arxiv.org/abs/2602.04129v2</a:t>
            </a:r>
          </a:p>
          <a:p xmlns:a="http://schemas.openxmlformats.org/drawingml/2006/main">
            <a:r>
              <a:t>https://github.com/getzep/graphiti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目前主要负责文献调研，还不清楚项目细节，因此这六项比先讨论模型参数更优先。前三项定义任务，第四项决定可用的方法，第五项决定研究是否可验证，第六项决定调研应该深入到什么程度。不要求负责人一次回答所有技术细节，可以先请其给一个代表场景，以及一组可共享的输入和期望输出。样例能帮助识别同一个名称下是否隐藏了不同需求。此页为项目访谈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进一步把任务说具体。对预测跨度，需要区分下一事件预测与长期轨迹；对决策粒度，需要区分资源分配、任务分解和低层动作。局部观测越严重，历史记忆和不确定性越重要。硬约束与偏好也应分开：硬约束违反时方案不可用，偏好则影响方案排序。问清这些信息之后，论文中的状态、动作和评价指标才可能与项目一一对应。此页是方法选择逻辑，并非已知项目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说明：本页为调研综合判断或待确认的项目访谈建议。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与负责人沟通时很关键的判断。只有文档或静态图谱时，可以做有价值的知识组织和解释，但不具备直接验证未来演化的条件。有时间事件可以预测，但若缺少行动及其结果，就难以验证干预后果。即使有行动记录，也可能存在选择偏差，所以观察到某种结果不能自动归因于行动。若有仿真环境，可以进一步比较方案，但必须了解仿真的动作规则和可信范围。此页是研究设计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说明：本页为调研综合判断或待确认的项目访谈建议。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按工程可操作性给出条件式排序。TLogic适合低成本建立预测评价链，AriGraph适合检查图记忆是否改善长任务。RE-GCN需要兼容环境；DAVIS作者提示代码不稳定，WKM依赖清单存在两个不同SDK精确版本。项目需求明确后，排序可能改变。我们还没有运行这些候选，不对运行成功、速度或性能提升做承诺。此处的工程结论固定在第二轮审查的提交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https://github.com/liu-yushan/TLogic/blob/9f6ffa3cc5c112226dc2537983b6bb33d4ef295e/pyproject.toml</a:t>
            </a:r>
          </a:p>
          <a:p xmlns:a="http://schemas.openxmlformats.org/drawingml/2006/main">
            <a:r>
              <a:t>https://github.com/AIRI-Institute/AriGraph/blob/e884b76d7fa5185a3a8a55e5a67393b5a43f5ef2/pipeline_arigraph.py</a:t>
            </a:r>
          </a:p>
          <a:p xmlns:a="http://schemas.openxmlformats.org/drawingml/2006/main">
            <a:r>
              <a:t>https://github.com/minhphd/DAVIS/blob/19c854cced8588534578eb40023fe7a0869c054f/README.md</a:t>
            </a:r>
          </a:p>
          <a:p xmlns:a="http://schemas.openxmlformats.org/drawingml/2006/main">
            <a:r>
              <a:t>https://github.com/zjunlp/WKM/blob/f1fe28fc189c59801a98cabda01188bc9b64eae6/requirements.txt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请负责人用一页或一次简短口头交流补齐这张需求卡，不要求先写长文档。我们拿到信息之后，可以把调研从论文介绍推进到项目建议：每篇文献对应哪个模块，需要什么数据，为什么可能有帮助，以及什么结果会否定这个判断。若某些字段暂时未知，也可以明确记录未知项和谁能提供信息，而不是由调研人员默认填入假设。此页是可直接使用的访谈产出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说明：本页为调研综合判断或待确认的项目访谈建议。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不需要声称已经找到一个通用方案。更稳妥的结论是，我们已经识别出几种可借鉴机制和它们的适用前提。接下来最重要的工作是咨询项目负责人，获得实际任务样例与评价方式，再选择一两个可以解释清楚的切口。这样调研既能启发团队，也不替项目预设不存在的数据或目标。附录可以用来回答方法区别、文献来源及评价协议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说明：本页为调研综合判断或待确认的项目访谈建议。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列出动作条件世界模型与时序图预测的核心来源。后续精读可以先核对Worldformer的数据和状态转移定义，再核对RE-GCN和TLogic的历史可见性、候选排序与数据划分。原论文的指标和当前项目的目标需要分别解释，不直接把跨论文数值并排当作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https://arxiv.org/abs/2106.09608v2</a:t>
            </a:r>
          </a:p>
          <a:p xmlns:a="http://schemas.openxmlformats.org/drawingml/2006/main">
            <a:r>
              <a:t>https://arxiv.org/abs/2104.10353</a:t>
            </a:r>
          </a:p>
          <a:p xmlns:a="http://schemas.openxmlformats.org/drawingml/2006/main">
            <a:r>
              <a:t>https://arxiv.org/abs/2112.08025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Graph正式发表于2025年，预印本首发于2024年。DAVIS的早期版本标题是ReasonPlanner，不应当作两篇独立工作统计。KGLAMP在本次采用的版本中按预印本介绍。选文献时应保留具体版本，避免方法或实验描述随着版本改变而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https://www.ijcai.org/proceedings/2025/2</a:t>
            </a:r>
          </a:p>
          <a:p xmlns:a="http://schemas.openxmlformats.org/drawingml/2006/main">
            <a:r>
              <a:t>https://arxiv.org/abs/2410.09252v2</a:t>
            </a:r>
          </a:p>
          <a:p xmlns:a="http://schemas.openxmlformats.org/drawingml/2006/main">
            <a:r>
              <a:t>https://arxiv.org/abs/2602.04129v2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前两篇用于理解领域知识组织和决策辅助的边界。TGB2.0用于提醒我们统一数据和评价协议。完整论文及工程资料可在调研仓库中继续查阅。本页ARES-KG的长标题为便于展示采用缩写，全称在仓库论文卡片中保留。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https://arxiv.org/abs/2311.08732</a:t>
            </a:r>
          </a:p>
          <a:p xmlns:a="http://schemas.openxmlformats.org/drawingml/2006/main">
            <a:r>
              <a:t>https://www.mdpi.com/2673-9585/6/3/16</a:t>
            </a:r>
          </a:p>
          <a:p xmlns:a="http://schemas.openxmlformats.org/drawingml/2006/main">
            <a:r>
              <a:t>https://arxiv.org/abs/2406.09639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组会中可能被追问的细节。根据固定提交的静态代码，RE-GCN的多步示例使用topk等于零，构造函数产生空的预测事实集合，历史列表没有更新。这支持将该示例理解为固定历史外推，而非完整自主滚动。即便设置正topK，构造也利用给定查询字段。这个结论来自代码阅读，不是本团队运行发现。实际复现时仍需确认数据和代码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https://github.com/Lee-zix/RE-GCN/blob/bc64211e3346f3fbc8988990969f4809fcca2977/src/main.py#L89-L99</a:t>
            </a:r>
          </a:p>
          <a:p xmlns:a="http://schemas.openxmlformats.org/drawingml/2006/main">
            <a:r>
              <a:t>https://github.com/Lee-zix/RE-GCN/blob/bc64211e3346f3fbc8988990969f4809fcca2977/rgcn/utils.py#L369-L407</a:t>
            </a:r>
          </a:p>
          <a:p xmlns:a="http://schemas.openxmlformats.org/drawingml/2006/main">
            <a:r>
              <a:t>https://arxiv.org/abs/2406.09639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44f14fe754c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301fbd75d45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43af780674f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78505156e43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a763037dd4a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37eeb616749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1F5E-3253-4618-BF07-43062B05B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1DCA8F-53ED-4D93-A31C-B9967195FF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7054C1-2F49-4A8F-A684-31A00E9CF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69B64A-EBA2-454B-829D-42190E552C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8C31A7-B9A1-4339-8304-9743738F25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EB1C14-D591-435A-A957-BFD7CDFB5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692E27-3C48-48BE-826C-84350121C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A10DA9-43E4-433E-AF52-35BC5C1AD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14D9E1-0FC2-43C8-8F59-55393B2D1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488CD0-DB15-4689-A702-95BF5958A3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cce95350404182" /><Relationship Type="http://schemas.openxmlformats.org/officeDocument/2006/relationships/slideLayout" Target="/ppt/slideLayouts/slideLayout1.xml" Id="R209881bf4c584964" /><Relationship Type="http://schemas.openxmlformats.org/officeDocument/2006/relationships/slideLayout" Target="/ppt/slideLayouts/slideLayout2.xml" Id="R5f820e11fed44ed4" /><Relationship Type="http://schemas.openxmlformats.org/officeDocument/2006/relationships/slideLayout" Target="/ppt/slideLayouts/slideLayout3.xml" Id="R5b213f69c76d42fd" /><Relationship Type="http://schemas.openxmlformats.org/officeDocument/2006/relationships/slideLayout" Target="/ppt/slideLayouts/slideLayout4.xml" Id="Rdc38526dda5e47b4" /><Relationship Type="http://schemas.openxmlformats.org/officeDocument/2006/relationships/slideLayout" Target="/ppt/slideLayouts/slideLayout5.xml" Id="Rcc997942366a43ce" /><Relationship Type="http://schemas.openxmlformats.org/officeDocument/2006/relationships/slideLayout" Target="/ppt/slideLayouts/slideLayout6.xml" Id="R586e5a833452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881bf4c584964"/>
    <p:sldLayoutId xmlns:r="http://schemas.openxmlformats.org/officeDocument/2006/relationships" id="2147483650" r:id="R5f820e11fed44ed4"/>
    <p:sldLayoutId xmlns:r="http://schemas.openxmlformats.org/officeDocument/2006/relationships" id="2147483651" r:id="R5b213f69c76d42fd"/>
    <p:sldLayoutId xmlns:r="http://schemas.openxmlformats.org/officeDocument/2006/relationships" id="2147483652" r:id="Rdc38526dda5e47b4"/>
    <p:sldLayoutId xmlns:r="http://schemas.openxmlformats.org/officeDocument/2006/relationships" id="2147483653" r:id="Rcc997942366a43ce"/>
    <p:sldLayoutId xmlns:r="http://schemas.openxmlformats.org/officeDocument/2006/relationships" id="2147483654" r:id="R586e5a833452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e70b29c414a12" /><Relationship Type="http://schemas.openxmlformats.org/officeDocument/2006/relationships/image" Target="/ppt/media/image.png" Id="Rd14dedc26cce489c" /><Relationship Type="http://schemas.openxmlformats.org/officeDocument/2006/relationships/notesSlide" Target="/ppt/notesSlides/notesSlide1.xml" Id="Rf943bdf87571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4a09a24a54236" /><Relationship Type="http://schemas.openxmlformats.org/officeDocument/2006/relationships/notesSlide" Target="/ppt/notesSlides/notesSlide2.xml" Id="R5a9ed1930179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f70b3e9c94355" /><Relationship Type="http://schemas.openxmlformats.org/officeDocument/2006/relationships/notesSlide" Target="/ppt/notesSlides/notesSlide3.xml" Id="Rc0ec7acbee6d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d768980e342ba" /><Relationship Type="http://schemas.openxmlformats.org/officeDocument/2006/relationships/notesSlide" Target="/ppt/notesSlides/notesSlide4.xml" Id="R9ca4866c9bec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f304bdc33432f" /><Relationship Type="http://schemas.openxmlformats.org/officeDocument/2006/relationships/notesSlide" Target="/ppt/notesSlides/notesSlide5.xml" Id="Rf1517d68820a4d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8669aac614ecf" /><Relationship Type="http://schemas.openxmlformats.org/officeDocument/2006/relationships/notesSlide" Target="/ppt/notesSlides/notesSlide6.xml" Id="R83785c867af745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9fab294b047e7" /><Relationship Type="http://schemas.openxmlformats.org/officeDocument/2006/relationships/notesSlide" Target="/ppt/notesSlides/notesSlide7.xml" Id="Re5193b3d236a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c57c228ed467c" /><Relationship Type="http://schemas.openxmlformats.org/officeDocument/2006/relationships/notesSlide" Target="/ppt/notesSlides/notesSlide8.xml" Id="R45a513d4e36244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c9aa161fb4559" /><Relationship Type="http://schemas.openxmlformats.org/officeDocument/2006/relationships/notesSlide" Target="/ppt/notesSlides/notesSlide9.xml" Id="Rb063f22c983b42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ceb6fb3604bf7" /><Relationship Type="http://schemas.openxmlformats.org/officeDocument/2006/relationships/notesSlide" Target="/ppt/notesSlides/notesSlide10.xml" Id="R5e5e5db609a644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6c518e946426e" /><Relationship Type="http://schemas.openxmlformats.org/officeDocument/2006/relationships/image" Target="/ppt/media/image2.png" Id="R2e5223d8cfde4fbb" /><Relationship Type="http://schemas.openxmlformats.org/officeDocument/2006/relationships/notesSlide" Target="/ppt/notesSlides/notesSlide11.xml" Id="Rec8f6f6c7a8f47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f9d62c900f433d" /><Relationship Type="http://schemas.openxmlformats.org/officeDocument/2006/relationships/notesSlide" Target="/ppt/notesSlides/notesSlide12.xml" Id="R96619ad71de043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f1ead17534409" /><Relationship Type="http://schemas.openxmlformats.org/officeDocument/2006/relationships/notesSlide" Target="/ppt/notesSlides/notesSlide13.xml" Id="R469574e326de4d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02b5907a1485c" /><Relationship Type="http://schemas.openxmlformats.org/officeDocument/2006/relationships/notesSlide" Target="/ppt/notesSlides/notesSlide14.xml" Id="R21ec1c1591f74f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2750ab9b849b6" /><Relationship Type="http://schemas.openxmlformats.org/officeDocument/2006/relationships/notesSlide" Target="/ppt/notesSlides/notesSlide15.xml" Id="Rec9beb8941c943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210fc3e2d4172" /><Relationship Type="http://schemas.openxmlformats.org/officeDocument/2006/relationships/notesSlide" Target="/ppt/notesSlides/notesSlide16.xml" Id="R2a2108476d474c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35452810d47df" /><Relationship Type="http://schemas.openxmlformats.org/officeDocument/2006/relationships/notesSlide" Target="/ppt/notesSlides/notesSlide17.xml" Id="R86a9502c963a44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834a58e484163" /><Relationship Type="http://schemas.openxmlformats.org/officeDocument/2006/relationships/notesSlide" Target="/ppt/notesSlides/notesSlide18.xml" Id="Rb5a680891b0f41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1117bbde047dd" /><Relationship Type="http://schemas.openxmlformats.org/officeDocument/2006/relationships/notesSlide" Target="/ppt/notesSlides/notesSlide19.xml" Id="R995d821bb60e40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3662f47df4bf2" /><Relationship Type="http://schemas.openxmlformats.org/officeDocument/2006/relationships/notesSlide" Target="/ppt/notesSlides/notesSlide20.xml" Id="R4295b34921ad4a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924fe468a4f1f" /><Relationship Type="http://schemas.openxmlformats.org/officeDocument/2006/relationships/hyperlink" Target="https://arxiv.org/abs/2106.09608v2" TargetMode="External" Id="R1ba9defa1c0b401c" /><Relationship Type="http://schemas.openxmlformats.org/officeDocument/2006/relationships/hyperlink" Target="https://arxiv.org/abs/2104.10353" TargetMode="External" Id="R05bc3fd6069240c2" /><Relationship Type="http://schemas.openxmlformats.org/officeDocument/2006/relationships/hyperlink" Target="https://arxiv.org/abs/2112.08025" TargetMode="External" Id="Rb39226bcb7254707" /><Relationship Type="http://schemas.openxmlformats.org/officeDocument/2006/relationships/notesSlide" Target="/ppt/notesSlides/notesSlide21.xml" Id="R1de4dc02e4aa4b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f450eff0942b3" /><Relationship Type="http://schemas.openxmlformats.org/officeDocument/2006/relationships/hyperlink" Target="https://www.ijcai.org/proceedings/2025/2" TargetMode="External" Id="R0a4a6b1b7fc74f18" /><Relationship Type="http://schemas.openxmlformats.org/officeDocument/2006/relationships/hyperlink" Target="https://arxiv.org/abs/2410.09252v2" TargetMode="External" Id="R69be6775b8ce431b" /><Relationship Type="http://schemas.openxmlformats.org/officeDocument/2006/relationships/hyperlink" Target="https://arxiv.org/abs/2602.04129v2" TargetMode="External" Id="R4c396125c53e42c7" /><Relationship Type="http://schemas.openxmlformats.org/officeDocument/2006/relationships/notesSlide" Target="/ppt/notesSlides/notesSlide22.xml" Id="Rc4873beafb3d4e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6db7718134dff" /><Relationship Type="http://schemas.openxmlformats.org/officeDocument/2006/relationships/hyperlink" Target="https://arxiv.org/abs/2311.08732" TargetMode="External" Id="Raaa47b2d7dbc4e9c" /><Relationship Type="http://schemas.openxmlformats.org/officeDocument/2006/relationships/hyperlink" Target="https://www.mdpi.com/2673-9585/6/3/16" TargetMode="External" Id="R69d8a6b4f2a54d5e" /><Relationship Type="http://schemas.openxmlformats.org/officeDocument/2006/relationships/hyperlink" Target="https://arxiv.org/abs/2406.09639" TargetMode="External" Id="R578195396f214d72" /><Relationship Type="http://schemas.openxmlformats.org/officeDocument/2006/relationships/notesSlide" Target="/ppt/notesSlides/notesSlide23.xml" Id="R76a4afc9b37943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f60449f2748c5" /><Relationship Type="http://schemas.openxmlformats.org/officeDocument/2006/relationships/notesSlide" Target="/ppt/notesSlides/notesSlide24.xml" Id="R2f045328f18c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EE2D7-DF3D-465B-AF20-7327F020C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dedc26cce48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CA33EB5-43C7-48CB-9397-CD914C1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143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知识图谱增强的</a:t>
            </a:r>
          </a:p>
          <a:p xmlns:a="http://schemas.openxmlformats.org/drawingml/2006/main">
            <a:pPr>
              <a:def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态势预测与任务规划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1E85D25-1727-4174-B0E4-2F05811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重点文献讲解与项目对齐讨论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EC0E-F0CB-4AF7-88C1-1D23E9CF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组会分享  2026.10.25</a:t>
            </a:r>
          </a:p>
        </p:txBody>
      </p:sp>
    </p:spTree>
    <p:extLst>
      <p:ext uri="{BB962C8B-B14F-4D97-AF65-F5344CB8AC3E}">
        <p14:creationId xmlns:p14="http://schemas.microsoft.com/office/powerpoint/2010/main" val="1987300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7ABE4-E74A-486F-8464-FB4974F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态势理解、预测与规划的任务区别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F1DDB-4E1D-4059-B0C8-9CB327BB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同一套知识图谱可以服务不同任务，评价目标也随之变化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75A2C-4D50-4FB0-A814-4E4898C96CE8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3053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系统需要回答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应检查的结果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态势理解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现在有哪些事实成立？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事实与证据是否准确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态势预测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接下来可能发生什么？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未来事件或状态是否准确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任务规划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怎样行动才能达到目标？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方案能否执行、收益如何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06FC176F-072D-4D55-A6C4-A3EFF334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项目的预期输出决定我们应重点读哪类论文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03800-6C2A-47C1-B85A-291BAF1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7361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F4FA74-EF16-4DAC-B5C1-696C6CC7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知识增强的四种主要位置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D7F5F-8F35-4EF1-B3B2-8646CEFC19EC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3053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知识提供什么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代表工作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状态与记忆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实体关系、经历和当前状态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AriGraph、DAVIS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未来预测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历史规律、时序规则、图变化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RE-GCN、TLogic、Worldformer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规划约束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能力、可达性、动作前置条件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KGLAMP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依据与解释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规范、依赖关系、可追溯查询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E-KELL、ARES-KG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A53CEC54-8379-474B-B808-5920CBE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每种方法先回答一个具体问题，再讨论模块如何组合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AC7DB-E5DE-47B2-B1AB-78CFA3F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7746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89414-BA42-4123-8CAA-3AA1B824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本次重点讲解的六篇工作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914DE-49F0-42F1-8818-A9C8E4F8EEC5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29000"/>
                <a:gridCol w="48768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论文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出处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Worldformer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NeurIPS 2021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明确学习动作后的图变化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RE-GCN / TLogic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SIGIR 2021 / AAAI 2022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神经演化与规则预测的对照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AriGraph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IJCAI 2025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图记忆支撑长任务执行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DAVIS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Findings of EMNLP 2025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检索经历与反馈重规划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KGLAMP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 预印本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知识图谱约束符号计划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FD2A1D26-CCA0-4140-980A-33310013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领域系统作为补充，帮助理解应用边界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287C2-2C2D-4129-9CD2-26698DDC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799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1E6BC-575F-4990-88D0-C6D754FF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Worldformer：预测行动造成的图变化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4A912-ACBA-4847-9D7F-2C90420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NeurIPS 2021，JerichoWorld 图状态与有效动作预测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67484-8578-4122-A7D3-D84817D4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输入与学习目标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2AE21-C665-4FFE-8828-0E750207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示意例子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5873C-F83A-4DC4-8055-07D693B5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输入观测、状态图、有效动作与当前动作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0242C-E12B-4520-8A8C-B668641D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预测下一步新增的图事实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10581-B186-4F10-A2FC-D0F82E6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同时生成下一步有效动作集合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F44B7-C892-4047-A866-60ED5559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当前事实：抽屉处于关闭状态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88003-188A-4EAF-AA35-0FAF1758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执行动作：打开抽屉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6AEE9-5BAF-4D03-A70E-B3D96388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预测事实：抽屉处于打开状态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036AA-3D9C-42E5-9D1A-244AB0C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边界：文本环境的预测结果尚不能直接证明完整规划收益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06E98F7B-AF1E-4528-B331-566CE7AE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启发：如果项目需要比较动作后果，训练数据应包含状态转移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5A450-4484-4F88-852C-704A2DC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7762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1D56E8-2C8F-418D-8339-CB10891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RE-GCN：学习历史图的演化规律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83E55-0893-40AD-81D5-9EB6C61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SIGIR 2021，ICEWS 等六个时序图数据集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0EC9A-8FE9-4837-813D-0173477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方法如何工作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E926B-8055-4230-86EA-05CBE7D0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实际预测什么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5C235-2983-463F-89FD-D0A86C87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关系图卷积编码同一时刻的关联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96350-AEAF-45F7-AA8D-DEB20C98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循环模块建模相邻时刻的变化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43DF5-D65A-4B03-AA6D-2E5E406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结合静态知识约束实体表示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FB437-D7B7-4708-8939-5A869A44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输入历史事件图序列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B87C5-453D-471C-93C7-FBDC2E8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给定未来查询，排序实体或关系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A1452-13CB-4094-B015-FC6D78E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适合事件级态势外推基线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61C20-7BD7-433F-8AA6-B027F4A1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边界：事件排序仍需要额外模块才能支持行动方案比较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4484E0D8-E8B7-4DE1-986B-7EE6F97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启发：项目若有带时间的关系事件，可先建立可比较的预测任务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47C25-5D66-48FF-B727-7C53EE37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2714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7B341-21B9-4558-9B99-D33569C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TLogic：用时序规则支持事件预测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1BAAF-2C21-44D6-B514-C99C6BF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AAAI 2022，ICEWS14 / 18 / 05–15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795A9-E53B-4BB2-9017-30731C25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方法如何工作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D4644-525B-4B22-8964-72F58B5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解释能提供什么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059B2-EE66-4C08-9D1D-1A4CF3EF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从历史图抽取时间一致的路径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594EF-B8AB-4303-8997-331E0FD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学习规则及其统计置信度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9AB31-2149-4D64-BFA8-FEFE6EE5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用规则匹配为未来候选排序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07854-6114-472F-B473-4A192A7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哪些历史事实命中了规则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3A45-EC0A-4437-9538-A5A2B308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哪些关系路径支持该候选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E159F-41A0-426C-AAA5-6A1A47D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哪些查询没有足够的规则覆盖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39C3B-EDD5-407E-ADB5-14E47AC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边界：统计规则和命中路径不能单独证明干预因果关系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5F0FD25-4C37-43E8-8992-A296AE5B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启发：预测结果可以附带可检查的历史依据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33544-E030-44D0-B397-1939F885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0646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23824E-0359-4D9C-918D-26E46065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RE-GCN 与 TLogic 的研究价值不同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31CAC-7F6F-416A-8A47-9240004E31B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48150"/>
                <a:gridCol w="424815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RE-GCN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TLogic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主要机制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学习演化表示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学习和匹配时序规则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结果检查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分析候选分数与表示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检查命中规则和历史路径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 PyTorch / CUDA / DGL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依赖与公开运行步骤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共同前提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时间事件数据及一致评价协议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时间事件数据及一致评价协议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472061AB-C730-4EF6-93ED-21B8CD3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后续比较必须统一数据划分、历史可见性与排序口径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92DBF-6CA0-4F0C-90D4-0A509D4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3599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51A73A-1BBE-4C7C-84D1-9B59149B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AriGraph：把事实与经历放进图记忆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13313-33F4-4CD8-A558-CFA7D5CB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IJCAI 2025，TextWorld 与 NetHack 交互环境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3BD7C-69C6-4101-BB51-B2B7F803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语义记忆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160CA-785E-40D7-BFB7-2DB9BD6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情景记忆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D92D2-CEF9-4E85-9FD4-22EC1A68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保存对象、位置和属性关系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97E90-D8AC-4A83-BAD6-0609410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根据新观测更新过时事实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99F8E-D9F2-43D9-8E32-6ED856CD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提供与当前目标相关的图信息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D7A3C-AABC-4A83-89D6-28C385B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保存过去的完整观测经历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C7F10-B329-4F40-BDBB-EB182125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连接同次经历中的相关事实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C36EE-3E11-4C81-B52A-1ADF67E7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帮助找回事实出现时的上下文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884F-DC9F-4498-8970-7F1BA234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适用条件：系统要跨多步持续交互，并且需要保留历史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B6F4FADD-12CF-4781-B9B5-FE9F93D3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启发：动态任务既需要当前状态，也需要状态变化的来历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CE83-BC03-42CE-B0AA-B5CF49E5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8871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CBEC85-B85B-4DB9-BA46-8647B66E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AriGraph 的证据与可迁移部分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884B8-1B8C-4280-8EA0-CA67D1D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值得借鉴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105D7-FD77-4D2C-A0FA-8A1867C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迁移时需要重新确认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A8108-7EF5-419C-9273-1F47F9B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共同的代理对比不同记忆方式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3CD8E-4704-4F2A-8DE3-43FF03C5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TextWorld 提供持续交互任务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6EFD9-FCB4-4B89-895E-73D6543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语义记忆与情景记忆可以做消融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BE72-3FA3-423E-A1FD-C7EC1496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任务是否真的依赖长期记忆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1CC0A-EED5-4985-A6E3-742835B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预算与模型是否保持可比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CA9E3-02C7-4651-97C0-A49E064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全部预定运行是否都进入统计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B9B5A6E8-658E-41FB-9934-CB252A6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论文采用五次尝试中最优三次平均，后续还应保留全部运行统计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203CF-F760-40B4-BA85-807B476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4756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072D4D-732E-4093-98FF-FB65DAE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DAVIS：通过多轮检索补足规划依据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F625-5122-4932-91B7-D44BC07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Findings of EMNLP 2025，ScienceWorld 交互任务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3A8F1-63C5-42B4-AF48-AD115F81E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223d8cfde4f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191" y="1724025"/>
            <a:ext cx="10575617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6801E-2A19-4006-BE81-2B38EB53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原文图3：相关子图、时间重排和检索后的回答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27D32-A9DB-485D-BF74-FD3879F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时序经历支持近似的转移与奖励推断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59DCD-46CA-4A61-A79B-B95C47E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执行中的 critic 检查偏差并触发重规划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E898E338-D3AA-486A-BEEB-28B354B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启发：反馈能修正计划，但需要控制调用成本与知识覆盖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A2FEF-C191-4CF5-9B73-969408A6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00481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43D8E-5AA9-4014-B3A7-C4B9B44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KGLAMP：知识图谱约束符号计划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720B7-3B64-4D8E-A3F2-BBF615B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2026 预印本，AI2-THOR 室内多机器人任务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A7329-1561-42DB-876F-BA8CDDE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计划生成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89384-721C-4DD3-8BEB-766CC0D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执行失败后的修正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46477-7B52-4606-B6EB-BCED9187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图中组织关系、能力与可达性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BC996-6FF9-4EA5-9387-81DF7F2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LLM 生成 PDDL 问题描述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E9AA8-836E-427B-8AF0-0A1E2CCB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符号规划器检查条件并求解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5234B-8337-4EEF-81DC-C28C5E11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检测实际结果与预期的差异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82470-78A4-4B33-BA9E-8958FDEE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诊断遗漏条件并更新知识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5D887-ECD7-4D98-BDB3-411D0DEA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重新生成问题并求解计划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DBE47-F86E-453C-BDFA-6C47A63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边界：模型内可行性仍依赖动作效果与环境描述的正确性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D19D1A4D-2FC0-4404-B560-05FC4D10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启发：领域知识可以成为动作前置条件和资源约束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22AA0-B7A1-4A61-BC6B-9D28B377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011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C2E20B-AF8B-4A0A-97BB-0E65C4F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领域系统：知识依据与决策辅助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2A033-D2F6-48F1-B67A-5B972B0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E-KELL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F16E9-61BD-417E-A0FB-F859A2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ARES-KG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344D4-F04E-480A-97B5-1DEFF9D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结构化应急规范与知识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8DE97-6479-407A-B0FC-C3E5E680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提示链组织决策支持回答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DA595-4A90-4EA4-9F81-5CC00DB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专家评价检查回答质量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0EF3-E20F-4489-9274-1950FB4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显式依赖支持多跳图查询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6EDA9-0EBE-402D-8E00-28F161A2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自然语言转为 Cypher 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EB193-658C-42C0-98B0-E65B2DB4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公开数据与查询工件可参考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2BB27625-2F2D-4162-9AAA-2145C7B5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领域贴近程度有价值，闭环任务收益仍需独立证据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D3F03-F0E4-4E53-BDAD-537608A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4919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BAEC91-3546-461F-B95C-67FAA1A4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项目条件决定文献的使用方式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913A8-A7A8-408B-B709-C85AB6F0C7B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476625"/>
                <a:gridCol w="421005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如果项目主要需要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优先参考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需要确认的前提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未来事件排序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RE-GCN、TLogic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带时间的事件及真值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持续状态记忆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AriGraph、Graphiti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多步历史与状态更新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动作后果预测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Worldformer、DAVIS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状态、动作、后续状态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约束下任务计划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KGLAMP、RAP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动作集合、约束与评价环境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有依据的辅助回答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E-KELL、ARES-KG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领域知识与证据来源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442235DF-E3A2-44A6-B0DA-F410809C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目前的推荐按条件成立，项目目标仍需负责人确认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B28A-899C-4111-B836-B09C93E4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53929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953741-023E-4D91-9B3B-8C12987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咨询负责人时最先确认的六件事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E3D40-2444-42F5-A5F3-22ADA6D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55DCA-D3AD-4D57-B337-0596F29A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具体任务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9C475-FF9E-4166-9079-4027C6E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049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谁在什么场景下使用，当前难在哪里？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6BE0-CBBD-41F4-A697-C5A3A945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0F50-65EA-4A36-8C1E-5C1C1E4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预期输出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75F4F-D45C-4725-A6A5-AD5349E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要预测事件、生成计划，还是提供解释？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C19F5-21BD-432D-832F-15024A2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B057-5874-480F-9269-F679C75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完整样例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BA92-0225-4C1E-B150-96AD8A7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03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一条输入及其期望输出具体是什么？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A250F-D8CC-4E95-9E2E-7773303E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C0BD7-C785-495E-AD4F-131FC265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现有数据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74C5F-7B69-405C-B6E6-D7E2C56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480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有哪些时间数据、图谱、行动与结果记录？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744D1-AD2E-4577-A2B6-BBF6930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70090-7141-4DAB-82F8-CE21A81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评价依据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5637B-16E1-4CC5-A3E7-01331CAF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怎样判对错，当前基线和验收指标是什么？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99DF1-433D-4C96-AC6E-84C74686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489FA-BB64-4EA4-AA20-58C7873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工作边界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0E6CE-8EB4-4884-BF7D-AB6E5A53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我们负责哪个模块，何时交付什么？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080B552F-F9EC-4B99-8CF6-BB574BB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先拿到一个完整样例，通常比先确定模型名称更有效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F79D3-217A-4D01-9F79-781E64F6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15736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98B87F-A8F4-4D64-A12E-A1229DD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样例应说明状态、时间与决策粒度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65D8E-F252-476E-8F00-61D2B6148AB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686300"/>
                <a:gridCol w="40005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需要明确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可以这样追问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为什么影响方法选择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预测跨度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下一事件、十分钟后，还是整段任务？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决定单步或多步评估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决策粒度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输出一个动作，还是完整任务分解？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决定动作空间与搜索方式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观测范围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能看到全部状态吗？多久更新一次？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决定是否需要记忆与不确定性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动作约束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能力、资源和时序有哪些硬限制？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决定符号约束是否必要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AFC8A2CA-20C8-485C-B75B-520443EC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同叫“态势预测”，时间尺度与输出粒度可能完全不同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2AB41-32E4-4A5D-BDE7-68415C3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463120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F6918D-E2B8-473B-9551-E4E6278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数据与反馈决定能验证什么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A7E20-A8A5-4988-A933-BDBD1EFB577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3053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现有材料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能优先考虑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还需要补充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规范、报告和静态图谱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知识检索、解释和状态组织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时间更新及任务标注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带时间的实体关系事件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时序事件预测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完整划分与未来真值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状态、行动和后续结果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行动条件动态模型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覆盖度与动作选择偏差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可交互仿真或回放环境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计划比较与反馈重规划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有效性指标及对照策略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D3C75A44-361B-4916-859F-747FBC7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没有行动反馈时，应谨慎承诺不同方案的后果比较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D1C10-076F-44A0-BCCE-3FF132E9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37014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272D1F-4346-4EC0-8BF8-C7C575A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复现候选目前采用条件式排序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8AF27-D856-4292-B8B9-51CCFF862713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3053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有意义的切口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进入前的条件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TLogic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离线事件预测与规则证据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任务与时间协议匹配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AriGraph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图记忆对长任务的作用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交互环境与调用预算明确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RE-GCN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神经图预测对照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旧依赖与数据划分对齐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KGLAMP / RAP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约束与搜索的作用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动作、约束和评价器可用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DAVIS / WKM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检索反馈与知识约束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稳定性、依赖和成本先厘清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E6D8753B-D410-4395-96AE-D1B5AFE4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当前为静态可行性判断，尚无本团队实测结果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6C8B-7FB4-4816-9F34-7D6417A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796346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6C4503-D0B1-4A02-8C78-0396FE3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一页需求卡就能推动下一轮调研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20E8C-AA37-49B5-9CF4-00FF56F3996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805815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请负责人补充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任务与模块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使用场景、用户、当前痛点、负责边界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输入与输出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各给一个代表样例，说明时间和动作粒度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数据与环境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事件、图谱、行动结果、回放或仿真条件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评价与基线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如何判断有效，现有流程与首要指标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资源与交付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部署限制、模型接口、算力、预算及里程碑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AB81C6E-2AA4-498B-ABB9-70AA8C8F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拿回需求卡后，再把论文改写成模块建议、数据要求与验证方案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DFF5-9530-4E17-9BE9-779132C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878569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9EC218-79CC-4FE7-95A8-42CD8B2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当前最有价值的研究判断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9D424-2ED2-4EF6-A0A4-7F99EAD4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86F85-CF44-44F8-A97F-EAF3ADD3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RE-GCN 与 TLogic 提供两类事件预测基线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51FC5-C4EF-47C7-8594-216B9C8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36D3D-07EA-4502-BABF-13AD3095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AriGraph 值得检查结构化记忆的实际增益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2D3A2-60B7-4497-9AC6-EEDBC78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7695-CAE8-4464-8887-9E046FB1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Worldformer、DAVIS、KGLAMP 分别启发动态与约束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65002-12B1-4BB8-AA13-FCE722A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14A3A-9B4C-4CDD-88C7-DD2C968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任务样例、数据和评价环境决定哪些启发能够落地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1F5F78B0-2781-4888-9F4A-1B6D032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下一步先完成项目对齐，再确定复现范围与研究问题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59FE2-2A85-4F53-BA79-F595C4C9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929731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BFE260-1EA1-4214-AC67-B5DA1E1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备份：重点参考文献（一）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1211-2E53-4844-97D6-75D4057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Worldformer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8BA5C-42B2-4155-AABF-48C9983C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Ammanabrolu &amp; Riedl. Learning Knowledge Graph-based World Models of Textual Environments. NeurIPS 2021.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C1A68-EE32-406A-B317-83BBF84C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ba9defa1c0b401c"/>
              </a:rPr>
              <a:t>arxiv.org/abs/2106.09608v2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B1415-8232-41ED-BF81-98CDD83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RE-GCN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52D34-A024-4BB5-B294-4D1498D6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Li et al. Temporal Knowledge Graph Reasoning Based on Evolutional Representation Learning. SIGIR 2021.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66893-64C4-436A-892E-13323BB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5bc3fd6069240c2"/>
              </a:rPr>
              <a:t>arxiv.org/abs/2104.10353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386A5-0FC9-4911-9965-FB3961EB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TLogic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72D94-BF02-4E92-B82A-947744D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Liu et al. TLogic: Temporal Logical Rules for Explainable Link Forecasting on Temporal Knowledge Graphs. AAAI 2022.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48FD8-48FE-4F33-A9B1-6B8CF42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39226bcb7254707"/>
              </a:rPr>
              <a:t>arxiv.org/abs/2112.08025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A6CCC-63E5-4BF9-839B-68029AE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158709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A3A2EA-29AE-4130-9021-D09D161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备份：重点参考文献（二）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F39F9-A3F7-49D5-B023-CF377AE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AriGraph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A3F7-BDE3-49E0-9869-42E847E8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Anokhin et al. AriGraph: Learning Knowledge Graph World Models with Episodic Memory for LLM Agents. IJCAI 2025.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03FD-4D92-4741-8D59-4015D6E1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a4a6b1b7fc74f18"/>
              </a:rPr>
              <a:t>www.ijcai.org/proceedings/2025/2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A0182-0386-4993-B4F2-664C9F9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DAVIS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6A4C1-F79C-4A6E-A1DE-FC02268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Pham-Dinh et al. DAVIS: Planning Agent with Knowledge Graph-Powered Inner Monologue. Findings of EMNLP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C0BF-A398-4672-85D0-35DB491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9be6775b8ce431b"/>
              </a:rPr>
              <a:t>arxiv.org/abs/2410.09252v2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60E25-CA2B-4C14-BC03-AE13EB4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KGLAMP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CA06B-18B7-47E5-B1DF-5E9B6C5C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Shek et al. KGLAMP: Knowledge Graph-guided Language model for Adaptive Multi-robot Planning and Replanning. 2026 preprint.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9C020-8A41-4DDE-B26E-3381DE9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c396125c53e42c7"/>
              </a:rPr>
              <a:t>arxiv.org/abs/2602.04129v2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27608-674B-4D62-BD01-4E0D8F0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970453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FA12B4-36BB-485B-AA69-BE82EDA5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备份：领域与评价参考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FBA6B-968D-4604-9DC0-DF697942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E-KELL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52554-F6D9-4539-96FB-BA32A5A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Chen et al. Enhancing Emergency Decision-making with Knowledge Graphs and Large Language Models. 2023 preprint.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7A75B-517A-4B5B-9B88-71C93277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aa47b2d7dbc4e9c"/>
              </a:rPr>
              <a:t>arxiv.org/abs/2311.08732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AAE94-B07F-4F0E-AF92-8D855B61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ARES-KG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AEAA3-42B4-41D8-A4A6-A093AFC5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Doumanas &amp; Kotis. ARES-KG: An LLM-Knowledge Graph Framework for Reasoned Military Decision Making… Knowledge,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BA29-A30F-462B-9833-2E658CC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9d8a6b4f2a54d5e"/>
              </a:rPr>
              <a:t>www.mdpi.com/2673-9585/6/3/16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395C7-C309-4F8E-9B01-19B7053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TGB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3327D-859E-4888-8203-BB8BC48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Gastinger et al. TGB 2.0: A Benchmark for Learning on Temporal Knowledge Graphs and Heterogeneous Graphs. NeurIPS 2024.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46D95-5B8F-4214-AF60-3A21D94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78195396f214d72"/>
              </a:rPr>
              <a:t>arxiv.org/abs/2406.09639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9CF5B-9194-4B42-A191-96F1788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00492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EF3497-2164-4773-9D0C-9ABB4BE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D3D"/>
                </a:solidFill>
                <a:latin typeface="Arial Unicode MS"/>
                <a:ea typeface="Arial Unicode MS"/>
                <a:cs typeface="Arial Unicode MS"/>
              </a:rPr>
              <a:t>备份：评价协议中的三个关键区别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E5E44-4F86-46F6-A563-D49CD8F594F0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14800"/>
              </a:tblGrid>
              <a:tr h="5143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预测之后历史如何变化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结论适用范围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T w="6668">
                      <a:solidFill>
                        <a:srgbClr val="D6DFDD"/>
                      </a:solidFill>
                      <a:prstDash val="solid"/>
                    </a:lnT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142D3D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在线一步预测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获得新的真实观测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持续观测下的下一步预测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固定起点预测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保持起点历史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信息不再更新时的外推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0F1EC"/>
                    </a:solidFill>
                  </a:tcPr>
                </a:tc>
              </a:tr>
              <a:tr h="6286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自主滚动预测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D"/>
                      </a:solidFill>
                      <a:prstDash val="solid"/>
                    </a:lnL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将模型预测回写历史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多步误差累积与图演化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D"/>
                      </a:solidFill>
                      <a:prstDash val="solid"/>
                    </a:lnR>
                    <a:lnB w="6668">
                      <a:solidFill>
                        <a:srgbClr val="D6DF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EB91634A-E7BB-4BB6-BD03-0021B95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C7A"/>
                </a:solidFill>
                <a:latin typeface="Arial Unicode MS"/>
                <a:ea typeface="Arial Unicode MS"/>
                <a:cs typeface="Arial Unicode MS"/>
              </a:rPr>
              <a:t>RE-GCN 的 topk=0 示例不会回写预测事实，应明确其协议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7E1F8-0BF6-4A63-992C-5523145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24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36572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31744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2026-10-25T13:39:10.2410000Z</dcterms:created>
  <dcterms:modified xsi:type="dcterms:W3CDTF">2026-10-25T13:39:10.2410000Z</dcterms:modified>
</coreProperties>
</file>